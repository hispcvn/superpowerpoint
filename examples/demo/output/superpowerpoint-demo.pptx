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e8efbc97cab4969" /><Relationship Type="http://schemas.openxmlformats.org/officeDocument/2006/relationships/extended-properties" Target="/docProps/app.xml" Id="Rcbcaf69ecd444bcb" /><Relationship Type="http://schemas.openxmlformats.org/officeDocument/2006/relationships/officeDocument" Target="/ppt/presentation.xml" Id="Rb27c187fe68e4ee3" /></Relationships>
</file>

<file path=ppt/presentation.xml><?xml version="1.0" encoding="utf-8"?>
<p:presentation xmlns:p="http://schemas.openxmlformats.org/presentationml/2006/main">
  <p:sldMasterIdLst>
    <p:sldMasterId xmlns:r="http://schemas.openxmlformats.org/officeDocument/2006/relationships" id="2147483648" r:id="Rc2f65ac821974c50"/>
  </p:sldMasterIdLst>
  <p:notesMasterIdLst>
    <p:notesMasterId xmlns:r="http://schemas.openxmlformats.org/officeDocument/2006/relationships" r:id="R222bfca1937648a9"/>
  </p:notesMasterIdLst>
  <p:sldIdLst>
    <p:sldId xmlns:r="http://schemas.openxmlformats.org/officeDocument/2006/relationships" id="256" r:id="R988e68da1a624f1d"/>
    <p:sldId xmlns:r="http://schemas.openxmlformats.org/officeDocument/2006/relationships" id="257" r:id="R3d92270a6e5a4d5d"/>
    <p:sldId xmlns:r="http://schemas.openxmlformats.org/officeDocument/2006/relationships" id="258" r:id="R5a90395b26d04cc8"/>
    <p:sldId xmlns:r="http://schemas.openxmlformats.org/officeDocument/2006/relationships" id="259" r:id="R761de89d6e8d4d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9fd72f6fe042c5" /><Relationship Type="http://schemas.openxmlformats.org/officeDocument/2006/relationships/slideMaster" Target="/ppt/slideMasters/slideMaster1.xml" Id="Rc2f65ac821974c50" /><Relationship Type="http://schemas.openxmlformats.org/officeDocument/2006/relationships/notesMaster" Target="/ppt/notesMasters/notesMaster1.xml" Id="R222bfca1937648a9" /><Relationship Type="http://schemas.openxmlformats.org/officeDocument/2006/relationships/presProps" Target="/ppt/presProps.xml" Id="R2b0f621615894feb" /><Relationship Type="http://schemas.openxmlformats.org/officeDocument/2006/relationships/tableStyles" Target="/ppt/tableStyles.xml" Id="R465cd82057d64d85" /><Relationship Type="http://schemas.openxmlformats.org/officeDocument/2006/relationships/slide" Target="/ppt/slides/slide1.xml" Id="R988e68da1a624f1d" /><Relationship Type="http://schemas.openxmlformats.org/officeDocument/2006/relationships/slide" Target="/ppt/slides/slide2.xml" Id="R3d92270a6e5a4d5d" /><Relationship Type="http://schemas.openxmlformats.org/officeDocument/2006/relationships/slide" Target="/ppt/slides/slide3.xml" Id="R5a90395b26d04cc8" /><Relationship Type="http://schemas.openxmlformats.org/officeDocument/2006/relationships/slide" Target="/ppt/slides/slide4.xml" Id="R761de89d6e8d4d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9a6b06f9974b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fe340aa1404145" /><Relationship Type="http://schemas.openxmlformats.org/officeDocument/2006/relationships/notesMaster" Target="/ppt/notesMasters/notesMaster1.xml" Id="R42df06fbe3c644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e7ecd7b26e4cf8" /><Relationship Type="http://schemas.openxmlformats.org/officeDocument/2006/relationships/notesMaster" Target="/ppt/notesMasters/notesMaster1.xml" Id="Rb939205c733641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eb98001a664408" /><Relationship Type="http://schemas.openxmlformats.org/officeDocument/2006/relationships/notesMaster" Target="/ppt/notesMasters/notesMaster1.xml" Id="R3f3535d16a8d4f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34a4bfb42e4f7d" /><Relationship Type="http://schemas.openxmlformats.org/officeDocument/2006/relationships/notesMaster" Target="/ppt/notesMasters/notesMaster1.xml" Id="Ra4523b0efecf4f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Nội dung tự soạn cho dự án Superpowerpoint. Bản minh hoạ có đúng 4 slide. Không chứa số liệu kinh doanh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Dữ liệu giả lập: Tuần 1 = 24, Tuần 2 = 36, Tuần 3 = 48 hồ sơ. Không phải số liệu thực tế. Biểu đồ được tạo từ các giá trị này; workbook nhúng là bản chụp dữ liệu giả lập, không có công thức nguồn cần bảo toàn.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mô tả quy trình của dự án Superpowerpoint. Nội dung tự soạn. Bảng có 5 hàng bao gồm tiêu đề và 2 cột; toàn bộ nội dung là đối tượng bảng trong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Nội dung tự soạn về yêu cầu bàn giao của dự án. Khả năng mở, chỉnh sửa và hiển thị trong một ứng dụng cụ thể phải được kiểm tra riêng; ảnh xem trước không chứng minh tính tương thích với mọi ứng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69468d637440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5e8b195a994af3" /><Relationship Type="http://schemas.openxmlformats.org/officeDocument/2006/relationships/slideLayout" Target="/ppt/slideLayouts/slideLayout1.xml" Id="R09d76e67667148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d76e67667148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686494473c40e5" /><Relationship Type="http://schemas.openxmlformats.org/officeDocument/2006/relationships/notesSlide" Target="/ppt/notesSlides/notesSlide1.xml" Id="Rb20f02c97fb340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120cde43b944aa" /><Relationship Type="http://schemas.openxmlformats.org/officeDocument/2006/relationships/chart" Target="/ppt/slides/charts/chart1.xml" Id="R908caef1f0b34f96" /><Relationship Type="http://schemas.openxmlformats.org/officeDocument/2006/relationships/notesSlide" Target="/ppt/notesSlides/notesSlide2.xml" Id="Rcef1d3240eb04e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9a8f31c4954be2" /><Relationship Type="http://schemas.openxmlformats.org/officeDocument/2006/relationships/notesSlide" Target="/ppt/notesSlides/notesSlide3.xml" Id="R8828bff948044c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dae51567714204" /><Relationship Type="http://schemas.openxmlformats.org/officeDocument/2006/relationships/notesSlide" Target="/ppt/notesSlides/notesSlide4.xml" Id="Rd2de9c57584044d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Hồ sơ</c:v>
          </c:tx>
          <c:spPr>
            <a:solidFill xmlns:a="http://schemas.openxmlformats.org/drawingml/2006/main">
              <a:srgbClr val="087F8C"/>
            </a:solidFill>
          </c:spPr>
          <c:cat>
            <c:strRef>
              <c:f>'Chart Data'!$A$2:$A$4</c:f>
              <c:strCache>
                <c:ptCount val="3"/>
                <c:pt idx="0">
                  <c:v>Tuần 1</c:v>
                </c:pt>
                <c:pt idx="1">
                  <c:v>Tuần 2</c:v>
                </c:pt>
                <c:pt idx="2">
                  <c:v>Tuần 3</c:v>
                </c:pt>
              </c:strCache>
            </c:strRef>
          </c:cat>
          <c:val>
            <c:numRef>
              <c:f>'Chart Data'!$B$2:$B$4</c:f>
              <c:numCache>
                <c:formatCode>0</c:formatCode>
                <c:ptCount val="3"/>
                <c:pt idx="0">
                  <c:v>24</c:v>
                </c:pt>
                <c:pt idx="1">
                  <c:v>36</c:v>
                </c:pt>
                <c:pt idx="2">
                  <c:v>48</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D3C"/>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32D3C"/>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BE5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16571"/>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D3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05B4E4E-40EE-46A8-ACE1-E2822187DAD3}"/>
              </a:ext>
            </a:extLst>
          </p:cNvPr>
          <p:cNvSpPr>
            <a:spLocks xmlns:a="http://schemas.openxmlformats.org/drawingml/2006/main" noGrp="1"/>
          </p:cNvSpPr>
          <p:nvPr/>
        </p:nvSpPr>
        <p:spPr>
          <a:xfrm xmlns:a="http://schemas.openxmlformats.org/drawingml/2006/main">
            <a:off x="762000" y="74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73D1D8"/>
                </a:solidFill>
                <a:latin typeface="Arial"/>
                <a:ea typeface="Arial"/>
                <a:cs typeface="Arial"/>
              </a:defRPr>
            </a:pPr>
            <a:r>
              <a:rPr sz="2100" b="1">
                <a:solidFill>
                  <a:srgbClr val="73D1D8"/>
                </a:solidFill>
                <a:latin typeface="Arial"/>
                <a:ea typeface="Arial"/>
                <a:cs typeface="Arial"/>
              </a:rPr>
              <a:t>SUPERPOWERPOINT</a:t>
            </a:r>
          </a:p>
        </p:txBody>
      </p:sp>
      <p:sp>
        <p:nvSpPr>
          <p:cNvPr id="2" name="">
            <a:extLst xmlns:a="http://schemas.openxmlformats.org/drawingml/2006/main">
              <a:ext uri="{FF2B5EF4-FFF2-40B4-BE49-F238E27FC236}">
                <a16:creationId xmlns:a16="http://schemas.microsoft.com/office/drawing/2014/main" id="{40FDE0FB-D110-44B9-8669-51D00668F00C}"/>
              </a:ext>
            </a:extLst>
          </p:cNvPr>
          <p:cNvSpPr>
            <a:spLocks xmlns:a="http://schemas.openxmlformats.org/drawingml/2006/main" noGrp="1"/>
          </p:cNvSpPr>
          <p:nvPr/>
        </p:nvSpPr>
        <p:spPr>
          <a:xfrm xmlns:a="http://schemas.openxmlformats.org/drawingml/2006/main">
            <a:off x="762000" y="2066925"/>
            <a:ext cx="10477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Từ ý tưởng đến</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slide có thể chỉnh sửa</a:t>
            </a:r>
          </a:p>
        </p:txBody>
      </p:sp>
      <p:sp>
        <p:nvSpPr>
          <p:cNvPr id="3" name="">
            <a:extLst xmlns:a="http://schemas.openxmlformats.org/drawingml/2006/main">
              <a:ext uri="{FF2B5EF4-FFF2-40B4-BE49-F238E27FC236}">
                <a16:creationId xmlns:a16="http://schemas.microsoft.com/office/drawing/2014/main" id="{F4098B96-1547-4B73-84C9-A7057B99259D}"/>
              </a:ext>
            </a:extLst>
          </p:cNvPr>
          <p:cNvSpPr>
            <a:spLocks xmlns:a="http://schemas.openxmlformats.org/drawingml/2006/main" noGrp="1"/>
          </p:cNvSpPr>
          <p:nvPr/>
        </p:nvSpPr>
        <p:spPr>
          <a:xfrm xmlns:a="http://schemas.openxmlformats.org/drawingml/2006/main">
            <a:off x="762000" y="45339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D6E5EC"/>
                </a:solidFill>
                <a:latin typeface="Arial"/>
                <a:ea typeface="Arial"/>
                <a:cs typeface="Arial"/>
              </a:defRPr>
            </a:pPr>
            <a:r>
              <a:rPr sz="2325" b="0">
                <a:solidFill>
                  <a:srgbClr val="D6E5EC"/>
                </a:solidFill>
                <a:latin typeface="Arial"/>
                <a:ea typeface="Arial"/>
                <a:cs typeface="Arial"/>
              </a:rPr>
              <a:t>Một ví dụ gồm văn bản, biểu đồ và bảng tiếng Việt</a:t>
            </a:r>
          </a:p>
        </p:txBody>
      </p:sp>
    </p:spTree>
    <p:extLst>
      <p:ext uri="{BB962C8B-B14F-4D97-AF65-F5344CB8AC3E}">
        <p14:creationId xmlns:p14="http://schemas.microsoft.com/office/powerpoint/2010/main" val="48192924"/>
      </p:ext>
    </p:extLst>
  </p:cSld>
</p:sld>
</file>

<file path=ppt/slides/slide2.xml><?xml version="1.0" encoding="utf-8"?>
<p:sld xmlns:p="http://schemas.openxmlformats.org/presentationml/2006/main">
  <p:cSld>
    <p:bg>
      <p:bgPr>
        <a:solidFill xmlns:a="http://schemas.openxmlformats.org/drawingml/2006/main">
          <a:srgbClr val="F7FA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BA21A81-ABFE-4451-98F1-2CAB16D3BC7E}"/>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D3C"/>
                </a:solidFill>
                <a:latin typeface="Arial"/>
                <a:ea typeface="Arial"/>
                <a:cs typeface="Arial"/>
              </a:defRPr>
            </a:pPr>
            <a:r>
              <a:rPr sz="3450" b="1">
                <a:solidFill>
                  <a:srgbClr val="132D3C"/>
                </a:solidFill>
                <a:latin typeface="Arial"/>
                <a:ea typeface="Arial"/>
                <a:cs typeface="Arial"/>
              </a:rPr>
              <a:t>Khối lượng xử lý theo tuần</a:t>
            </a:r>
          </a:p>
        </p:txBody>
      </p:sp>
      <p:sp>
        <p:nvSpPr>
          <p:cNvPr id="2" name="">
            <a:extLst xmlns:a="http://schemas.openxmlformats.org/drawingml/2006/main">
              <a:ext uri="{FF2B5EF4-FFF2-40B4-BE49-F238E27FC236}">
                <a16:creationId xmlns:a16="http://schemas.microsoft.com/office/drawing/2014/main" id="{FF62F9F5-C494-434D-9762-514914116951}"/>
              </a:ext>
            </a:extLst>
          </p:cNvPr>
          <p:cNvSpPr>
            <a:spLocks xmlns:a="http://schemas.openxmlformats.org/drawingml/2006/main" noGrp="1"/>
          </p:cNvSpPr>
          <p:nvPr/>
        </p:nvSpPr>
        <p:spPr>
          <a:xfrm xmlns:a="http://schemas.openxmlformats.org/drawingml/2006/main">
            <a:off x="685800" y="13716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16571"/>
                </a:solidFill>
                <a:latin typeface="Arial"/>
                <a:ea typeface="Arial"/>
                <a:cs typeface="Arial"/>
              </a:defRPr>
            </a:pPr>
            <a:r>
              <a:rPr sz="2025" b="0">
                <a:solidFill>
                  <a:srgbClr val="516571"/>
                </a:solidFill>
                <a:latin typeface="Arial"/>
                <a:ea typeface="Arial"/>
                <a:cs typeface="Arial"/>
              </a:rPr>
              <a:t>Số liệu giả lập cho ví dụ. Đơn vị: hồ sơ.</a:t>
            </a:r>
          </a:p>
        </p:txBody>
      </p:sp>
      <p:graphicFrame>
        <p:nvGraphicFramePr>
          <p:cNvPr id="6" name="Chart"/>
          <p:cNvGraphicFramePr/>
          <p:nvPr/>
        </p:nvGraphicFramePr>
        <p:xfrm>
          <a:off xmlns:a="http://schemas.openxmlformats.org/drawingml/2006/main" x="800100" y="2143125"/>
          <a:ext xmlns:a="http://schemas.openxmlformats.org/drawingml/2006/main" cx="10572750" cy="3762375"/>
        </p:xfrm>
        <a:graphic xmlns:a="http://schemas.openxmlformats.org/drawingml/2006/main">
          <a:graphicData uri="http://schemas.openxmlformats.org/drawingml/2006/chart">
            <c:chart xmlns:r="http://schemas.openxmlformats.org/officeDocument/2006/relationships" xmlns:c="http://schemas.openxmlformats.org/drawingml/2006/chart" r:id="R908caef1f0b34f96"/>
          </a:graphicData>
        </a:graphic>
      </p:graphicFrame>
    </p:spTree>
    <p:extLst>
      <p:ext uri="{BB962C8B-B14F-4D97-AF65-F5344CB8AC3E}">
        <p14:creationId xmlns:p14="http://schemas.microsoft.com/office/powerpoint/2010/main" val="1906300937"/>
      </p:ext>
    </p:extLst>
  </p:cSld>
</p:sld>
</file>

<file path=ppt/slides/slide3.xml><?xml version="1.0" encoding="utf-8"?>
<p:sld xmlns:p="http://schemas.openxmlformats.org/presentationml/2006/main">
  <p:cSld>
    <p:bg>
      <p:bgPr>
        <a:solidFill xmlns:a="http://schemas.openxmlformats.org/drawingml/2006/main">
          <a:srgbClr val="F7FA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A3F7493-005A-40B0-BA72-3E42015B5BE5}"/>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D3C"/>
                </a:solidFill>
                <a:latin typeface="Arial"/>
                <a:ea typeface="Arial"/>
                <a:cs typeface="Arial"/>
              </a:defRPr>
            </a:pPr>
            <a:r>
              <a:rPr sz="3450" b="1">
                <a:solidFill>
                  <a:srgbClr val="132D3C"/>
                </a:solidFill>
                <a:latin typeface="Arial"/>
                <a:ea typeface="Arial"/>
                <a:cs typeface="Arial"/>
              </a:rPr>
              <a:t>Đầu ra của từng công đoạn</a:t>
            </a:r>
          </a:p>
        </p:txBody>
      </p:sp>
      <p:sp>
        <p:nvSpPr>
          <p:cNvPr id="2" name="">
            <a:extLst xmlns:a="http://schemas.openxmlformats.org/drawingml/2006/main">
              <a:ext uri="{FF2B5EF4-FFF2-40B4-BE49-F238E27FC236}">
                <a16:creationId xmlns:a16="http://schemas.microsoft.com/office/drawing/2014/main" id="{EF77D225-4929-4970-B2C4-DCE88436FD7D}"/>
              </a:ext>
            </a:extLst>
          </p:cNvPr>
          <p:cNvSpPr>
            <a:spLocks xmlns:a="http://schemas.openxmlformats.org/drawingml/2006/main" noGrp="1"/>
          </p:cNvSpPr>
          <p:nvPr/>
        </p:nvSpPr>
        <p:spPr>
          <a:xfrm xmlns:a="http://schemas.openxmlformats.org/drawingml/2006/main">
            <a:off x="685800" y="13716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16571"/>
                </a:solidFill>
                <a:latin typeface="Arial"/>
                <a:ea typeface="Arial"/>
                <a:cs typeface="Arial"/>
              </a:defRPr>
            </a:pPr>
            <a:r>
              <a:rPr sz="2025" b="0">
                <a:solidFill>
                  <a:srgbClr val="516571"/>
                </a:solidFill>
                <a:latin typeface="Arial"/>
                <a:ea typeface="Arial"/>
                <a:cs typeface="Arial"/>
              </a:rPr>
              <a:t>Mỗi công đoạn để lại một kết quả có thể kiểm tra.</a:t>
            </a:r>
          </a:p>
        </p:txBody>
      </p:sp>
      <p:graphicFrame>
        <p:nvGraphicFramePr>
          <p:cNvPr id="6" name=""/>
          <p:cNvGraphicFramePr/>
          <p:nvPr/>
        </p:nvGraphicFramePr>
        <p:xfrm>
          <a:off xmlns:a="http://schemas.openxmlformats.org/drawingml/2006/main" x="685800" y="2228850"/>
          <a:ext xmlns:a="http://schemas.openxmlformats.org/drawingml/2006/main" cx="10820400" cy="3219450"/>
        </p:xfrm>
        <a:graphic xmlns:a="http://schemas.openxmlformats.org/drawingml/2006/main">
          <a:graphicData uri="http://schemas.openxmlformats.org/drawingml/2006/table">
            <a:tbl>
              <a:tblPr/>
              <a:tblGrid>
                <a:gridCol w="3381375"/>
                <a:gridCol w="7439025"/>
              </a:tblGrid>
              <a:tr h="643890">
                <a:tc>
                  <a:txBody>
                    <a:bodyPr/>
                    <a:lstStyle/>
                    <a:p>
                      <a:r>
                        <a:rPr sz="2025" b="1">
                          <a:solidFill>
                            <a:srgbClr val="FFFFFF"/>
                          </a:solidFill>
                          <a:latin typeface="Arial"/>
                          <a:ea typeface="Arial"/>
                          <a:cs typeface="Arial"/>
                        </a:rPr>
                        <a:t>Công đoạn</a:t>
                      </a:r>
                    </a:p>
                  </a:txBody>
                  <a:tcPr marL="171450" marR="171450" marT="142875" marB="142875">
                    <a:solidFill>
                      <a:srgbClr val="132D3C"/>
                    </a:solidFill>
                  </a:tcPr>
                </a:tc>
                <a:tc>
                  <a:txBody>
                    <a:bodyPr/>
                    <a:lstStyle/>
                    <a:p>
                      <a:r>
                        <a:rPr sz="2025" b="1">
                          <a:solidFill>
                            <a:srgbClr val="FFFFFF"/>
                          </a:solidFill>
                          <a:latin typeface="Arial"/>
                          <a:ea typeface="Arial"/>
                          <a:cs typeface="Arial"/>
                        </a:rPr>
                        <a:t>Đầu ra</a:t>
                      </a:r>
                    </a:p>
                  </a:txBody>
                  <a:tcPr marL="171450" marR="171450" marT="142875" marB="142875">
                    <a:solidFill>
                      <a:srgbClr val="132D3C"/>
                    </a:solidFill>
                  </a:tcPr>
                </a:tc>
              </a:tr>
              <a:tr h="643890">
                <a:tc>
                  <a:txBody>
                    <a:bodyPr/>
                    <a:lstStyle/>
                    <a:p>
                      <a:r>
                        <a:rPr sz="2025" b="0">
                          <a:solidFill>
                            <a:srgbClr val="132D3C"/>
                          </a:solidFill>
                          <a:latin typeface="Arial"/>
                          <a:ea typeface="Arial"/>
                          <a:cs typeface="Arial"/>
                        </a:rPr>
                        <a:t>Làm rõ yêu cầu</a:t>
                      </a:r>
                    </a:p>
                  </a:txBody>
                  <a:tcPr marL="171450" marR="171450" marT="142875" marB="142875">
                    <a:solidFill>
                      <a:srgbClr val="FFFFFF"/>
                    </a:solidFill>
                  </a:tcPr>
                </a:tc>
                <a:tc>
                  <a:txBody>
                    <a:bodyPr/>
                    <a:lstStyle/>
                    <a:p>
                      <a:r>
                        <a:rPr sz="2025" b="0">
                          <a:solidFill>
                            <a:srgbClr val="132D3C"/>
                          </a:solidFill>
                          <a:latin typeface="Arial"/>
                          <a:ea typeface="Arial"/>
                          <a:cs typeface="Arial"/>
                        </a:rPr>
                        <a:t>Mục tiêu, người xem và giới hạn</a:t>
                      </a:r>
                    </a:p>
                  </a:txBody>
                  <a:tcPr marL="171450" marR="171450" marT="142875" marB="142875">
                    <a:solidFill>
                      <a:srgbClr val="FFFFFF"/>
                    </a:solidFill>
                  </a:tcPr>
                </a:tc>
              </a:tr>
              <a:tr h="643890">
                <a:tc>
                  <a:txBody>
                    <a:bodyPr/>
                    <a:lstStyle/>
                    <a:p>
                      <a:r>
                        <a:rPr sz="2025" b="0">
                          <a:solidFill>
                            <a:srgbClr val="132D3C"/>
                          </a:solidFill>
                          <a:latin typeface="Arial"/>
                          <a:ea typeface="Arial"/>
                          <a:cs typeface="Arial"/>
                        </a:rPr>
                        <a:t>Lập dàn ý</a:t>
                      </a:r>
                    </a:p>
                  </a:txBody>
                  <a:tcPr marL="171450" marR="171450" marT="142875" marB="142875">
                    <a:solidFill>
                      <a:srgbClr val="EDF3F6"/>
                    </a:solidFill>
                  </a:tcPr>
                </a:tc>
                <a:tc>
                  <a:txBody>
                    <a:bodyPr/>
                    <a:lstStyle/>
                    <a:p>
                      <a:r>
                        <a:rPr sz="2025" b="0">
                          <a:solidFill>
                            <a:srgbClr val="132D3C"/>
                          </a:solidFill>
                          <a:latin typeface="Arial"/>
                          <a:ea typeface="Arial"/>
                          <a:cs typeface="Arial"/>
                        </a:rPr>
                        <a:t>Nội dung và bằng chứng cho từng slide</a:t>
                      </a:r>
                    </a:p>
                  </a:txBody>
                  <a:tcPr marL="171450" marR="171450" marT="142875" marB="142875">
                    <a:solidFill>
                      <a:srgbClr val="EDF3F6"/>
                    </a:solidFill>
                  </a:tcPr>
                </a:tc>
              </a:tr>
              <a:tr h="643890">
                <a:tc>
                  <a:txBody>
                    <a:bodyPr/>
                    <a:lstStyle/>
                    <a:p>
                      <a:r>
                        <a:rPr sz="2025" b="0">
                          <a:solidFill>
                            <a:srgbClr val="132D3C"/>
                          </a:solidFill>
                          <a:latin typeface="Arial"/>
                          <a:ea typeface="Arial"/>
                          <a:cs typeface="Arial"/>
                        </a:rPr>
                        <a:t>Tạo bài trình bày</a:t>
                      </a:r>
                    </a:p>
                  </a:txBody>
                  <a:tcPr marL="171450" marR="171450" marT="142875" marB="142875">
                    <a:solidFill>
                      <a:srgbClr val="FFFFFF"/>
                    </a:solidFill>
                  </a:tcPr>
                </a:tc>
                <a:tc>
                  <a:txBody>
                    <a:bodyPr/>
                    <a:lstStyle/>
                    <a:p>
                      <a:r>
                        <a:rPr sz="2025" b="0">
                          <a:solidFill>
                            <a:srgbClr val="132D3C"/>
                          </a:solidFill>
                          <a:latin typeface="Arial"/>
                          <a:ea typeface="Arial"/>
                          <a:cs typeface="Arial"/>
                        </a:rPr>
                        <a:t>Văn bản, biểu đồ và bảng chỉnh sửa được</a:t>
                      </a:r>
                    </a:p>
                  </a:txBody>
                  <a:tcPr marL="171450" marR="171450" marT="142875" marB="142875">
                    <a:solidFill>
                      <a:srgbClr val="FFFFFF"/>
                    </a:solidFill>
                  </a:tcPr>
                </a:tc>
              </a:tr>
              <a:tr h="643890">
                <a:tc>
                  <a:txBody>
                    <a:bodyPr/>
                    <a:lstStyle/>
                    <a:p>
                      <a:r>
                        <a:rPr sz="2025" b="0">
                          <a:solidFill>
                            <a:srgbClr val="132D3C"/>
                          </a:solidFill>
                          <a:latin typeface="Arial"/>
                          <a:ea typeface="Arial"/>
                          <a:cs typeface="Arial"/>
                        </a:rPr>
                        <a:t>Kiểm tra</a:t>
                      </a:r>
                    </a:p>
                  </a:txBody>
                  <a:tcPr marL="171450" marR="171450" marT="142875" marB="142875">
                    <a:solidFill>
                      <a:srgbClr val="EDF3F6"/>
                    </a:solidFill>
                  </a:tcPr>
                </a:tc>
                <a:tc>
                  <a:txBody>
                    <a:bodyPr/>
                    <a:lstStyle/>
                    <a:p>
                      <a:r>
                        <a:rPr sz="2025" b="0">
                          <a:solidFill>
                            <a:srgbClr val="132D3C"/>
                          </a:solidFill>
                          <a:latin typeface="Arial"/>
                          <a:ea typeface="Arial"/>
                          <a:cs typeface="Arial"/>
                        </a:rPr>
                        <a:t>Slide đã xem và các giới hạn còn lại</a:t>
                      </a:r>
                    </a:p>
                  </a:txBody>
                  <a:tcPr marL="171450" marR="171450" marT="142875" marB="142875">
                    <a:solidFill>
                      <a:srgbClr val="EDF3F6"/>
                    </a:solidFill>
                  </a:tcPr>
                </a:tc>
              </a:tr>
            </a:tbl>
          </a:graphicData>
        </a:graphic>
      </p:graphicFrame>
    </p:spTree>
    <p:extLst>
      <p:ext uri="{BB962C8B-B14F-4D97-AF65-F5344CB8AC3E}">
        <p14:creationId xmlns:p14="http://schemas.microsoft.com/office/powerpoint/2010/main" val="1266343791"/>
      </p:ext>
    </p:extLst>
  </p:cSld>
</p:sld>
</file>

<file path=ppt/slides/slide4.xml><?xml version="1.0" encoding="utf-8"?>
<p:sld xmlns:p="http://schemas.openxmlformats.org/presentationml/2006/main">
  <p:cSld>
    <p:bg>
      <p:bgPr>
        <a:solidFill xmlns:a="http://schemas.openxmlformats.org/drawingml/2006/main">
          <a:srgbClr val="F7FA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B294C3-4770-4D03-9858-84A7D73C77C1}"/>
              </a:ext>
            </a:extLst>
          </p:cNvPr>
          <p:cNvSpPr>
            <a:spLocks xmlns:a="http://schemas.openxmlformats.org/drawingml/2006/main" noGrp="1"/>
          </p:cNvSpPr>
          <p:nvPr/>
        </p:nvSpPr>
        <p:spPr>
          <a:xfrm xmlns:a="http://schemas.openxmlformats.org/drawingml/2006/main">
            <a:off x="685800" y="5143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D3C"/>
                </a:solidFill>
                <a:latin typeface="Arial"/>
                <a:ea typeface="Arial"/>
                <a:cs typeface="Arial"/>
              </a:defRPr>
            </a:pPr>
            <a:r>
              <a:rPr sz="3450" b="1">
                <a:solidFill>
                  <a:srgbClr val="132D3C"/>
                </a:solidFill>
                <a:latin typeface="Arial"/>
                <a:ea typeface="Arial"/>
                <a:cs typeface="Arial"/>
              </a:rPr>
              <a:t>Bàn giao có bằng chứng</a:t>
            </a:r>
          </a:p>
        </p:txBody>
      </p:sp>
      <p:sp>
        <p:nvSpPr>
          <p:cNvPr id="2" name="">
            <a:extLst xmlns:a="http://schemas.openxmlformats.org/drawingml/2006/main">
              <a:ext uri="{FF2B5EF4-FFF2-40B4-BE49-F238E27FC236}">
                <a16:creationId xmlns:a16="http://schemas.microsoft.com/office/drawing/2014/main" id="{9330F0CE-BE6F-4464-A4D2-EFFBED512B3C}"/>
              </a:ext>
            </a:extLst>
          </p:cNvPr>
          <p:cNvSpPr>
            <a:spLocks xmlns:a="http://schemas.openxmlformats.org/drawingml/2006/main" noGrp="1"/>
          </p:cNvSpPr>
          <p:nvPr/>
        </p:nvSpPr>
        <p:spPr>
          <a:xfrm xmlns:a="http://schemas.openxmlformats.org/drawingml/2006/main">
            <a:off x="685800" y="13716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16571"/>
                </a:solidFill>
                <a:latin typeface="Arial"/>
                <a:ea typeface="Arial"/>
                <a:cs typeface="Arial"/>
              </a:defRPr>
            </a:pPr>
            <a:r>
              <a:rPr sz="2025" b="0">
                <a:solidFill>
                  <a:srgbClr val="516571"/>
                </a:solidFill>
                <a:latin typeface="Arial"/>
                <a:ea typeface="Arial"/>
                <a:cs typeface="Arial"/>
              </a:rPr>
              <a:t>Người nhận cần biết mình có thể dùng và kiểm tra điều gì.</a:t>
            </a:r>
          </a:p>
        </p:txBody>
      </p:sp>
      <p:sp>
        <p:nvSpPr>
          <p:cNvPr id="3" name="">
            <a:extLst xmlns:a="http://schemas.openxmlformats.org/drawingml/2006/main">
              <a:ext uri="{FF2B5EF4-FFF2-40B4-BE49-F238E27FC236}">
                <a16:creationId xmlns:a16="http://schemas.microsoft.com/office/drawing/2014/main" id="{DD0405C5-9362-4A55-9A13-C59ADB17A585}"/>
              </a:ext>
            </a:extLst>
          </p:cNvPr>
          <p:cNvSpPr>
            <a:spLocks xmlns:a="http://schemas.openxmlformats.org/drawingml/2006/main" noGrp="1"/>
          </p:cNvSpPr>
          <p:nvPr/>
        </p:nvSpPr>
        <p:spPr>
          <a:xfrm xmlns:a="http://schemas.openxmlformats.org/drawingml/2006/main">
            <a:off x="685800" y="2476500"/>
            <a:ext cx="385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Nội dung có căn cứ</a:t>
            </a:r>
          </a:p>
        </p:txBody>
      </p:sp>
      <p:sp>
        <p:nvSpPr>
          <p:cNvPr id="4" name="">
            <a:extLst xmlns:a="http://schemas.openxmlformats.org/drawingml/2006/main">
              <a:ext uri="{FF2B5EF4-FFF2-40B4-BE49-F238E27FC236}">
                <a16:creationId xmlns:a16="http://schemas.microsoft.com/office/drawing/2014/main" id="{C3C5D5D5-0F07-40DB-987F-EC4500C484C2}"/>
              </a:ext>
            </a:extLst>
          </p:cNvPr>
          <p:cNvSpPr>
            <a:spLocks xmlns:a="http://schemas.openxmlformats.org/drawingml/2006/main" noGrp="1"/>
          </p:cNvSpPr>
          <p:nvPr/>
        </p:nvSpPr>
        <p:spPr>
          <a:xfrm xmlns:a="http://schemas.openxmlformats.org/drawingml/2006/main">
            <a:off x="4762500" y="2476500"/>
            <a:ext cx="6705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D3C"/>
                </a:solidFill>
                <a:latin typeface="Arial"/>
                <a:ea typeface="Arial"/>
                <a:cs typeface="Arial"/>
              </a:defRPr>
            </a:pPr>
            <a:r>
              <a:rPr sz="2325" b="0">
                <a:solidFill>
                  <a:srgbClr val="132D3C"/>
                </a:solidFill>
                <a:latin typeface="Arial"/>
                <a:ea typeface="Arial"/>
                <a:cs typeface="Arial"/>
              </a:rPr>
              <a:t>Nguồn, dữ liệu và giả định được ghi rõ.</a:t>
            </a:r>
          </a:p>
        </p:txBody>
      </p:sp>
      <p:sp>
        <p:nvSpPr>
          <p:cNvPr id="5" name="">
            <a:extLst xmlns:a="http://schemas.openxmlformats.org/drawingml/2006/main">
              <a:ext uri="{FF2B5EF4-FFF2-40B4-BE49-F238E27FC236}">
                <a16:creationId xmlns:a16="http://schemas.microsoft.com/office/drawing/2014/main" id="{21EBAEEA-E5BF-41D8-B686-4CE1123D7F21}"/>
              </a:ext>
            </a:extLst>
          </p:cNvPr>
          <p:cNvSpPr>
            <a:spLocks xmlns:a="http://schemas.openxmlformats.org/drawingml/2006/main" noGrp="1"/>
          </p:cNvSpPr>
          <p:nvPr/>
        </p:nvSpPr>
        <p:spPr>
          <a:xfrm xmlns:a="http://schemas.openxmlformats.org/drawingml/2006/main">
            <a:off x="685800" y="3714750"/>
            <a:ext cx="3857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Đối tượng chỉnh sửa được</a:t>
            </a:r>
          </a:p>
        </p:txBody>
      </p:sp>
      <p:sp>
        <p:nvSpPr>
          <p:cNvPr id="6" name="">
            <a:extLst xmlns:a="http://schemas.openxmlformats.org/drawingml/2006/main">
              <a:ext uri="{FF2B5EF4-FFF2-40B4-BE49-F238E27FC236}">
                <a16:creationId xmlns:a16="http://schemas.microsoft.com/office/drawing/2014/main" id="{183839C5-45D6-46D2-8F17-102BC3AD1492}"/>
              </a:ext>
            </a:extLst>
          </p:cNvPr>
          <p:cNvSpPr>
            <a:spLocks xmlns:a="http://schemas.openxmlformats.org/drawingml/2006/main" noGrp="1"/>
          </p:cNvSpPr>
          <p:nvPr/>
        </p:nvSpPr>
        <p:spPr>
          <a:xfrm xmlns:a="http://schemas.openxmlformats.org/drawingml/2006/main">
            <a:off x="4762500" y="3714750"/>
            <a:ext cx="6705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D3C"/>
                </a:solidFill>
                <a:latin typeface="Arial"/>
                <a:ea typeface="Arial"/>
                <a:cs typeface="Arial"/>
              </a:defRPr>
            </a:pPr>
            <a:r>
              <a:rPr sz="2325" b="0">
                <a:solidFill>
                  <a:srgbClr val="132D3C"/>
                </a:solidFill>
                <a:latin typeface="Arial"/>
                <a:ea typeface="Arial"/>
                <a:cs typeface="Arial"/>
              </a:rPr>
              <a:t>Văn bản, bảng và biểu đồ vẫn sửa được trong file.</a:t>
            </a:r>
          </a:p>
        </p:txBody>
      </p:sp>
      <p:sp>
        <p:nvSpPr>
          <p:cNvPr id="7" name="">
            <a:extLst xmlns:a="http://schemas.openxmlformats.org/drawingml/2006/main">
              <a:ext uri="{FF2B5EF4-FFF2-40B4-BE49-F238E27FC236}">
                <a16:creationId xmlns:a16="http://schemas.microsoft.com/office/drawing/2014/main" id="{518F56FB-D652-4936-805E-7F30B2A772D5}"/>
              </a:ext>
            </a:extLst>
          </p:cNvPr>
          <p:cNvSpPr>
            <a:spLocks xmlns:a="http://schemas.openxmlformats.org/drawingml/2006/main" noGrp="1"/>
          </p:cNvSpPr>
          <p:nvPr/>
        </p:nvSpPr>
        <p:spPr>
          <a:xfrm xmlns:a="http://schemas.openxmlformats.org/drawingml/2006/main">
            <a:off x="685800" y="5143500"/>
            <a:ext cx="385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Bản xem trước</a:t>
            </a:r>
          </a:p>
        </p:txBody>
      </p:sp>
      <p:sp>
        <p:nvSpPr>
          <p:cNvPr id="8" name="">
            <a:extLst xmlns:a="http://schemas.openxmlformats.org/drawingml/2006/main">
              <a:ext uri="{FF2B5EF4-FFF2-40B4-BE49-F238E27FC236}">
                <a16:creationId xmlns:a16="http://schemas.microsoft.com/office/drawing/2014/main" id="{04D81316-4F2F-438D-A05F-9D83A499F3F2}"/>
              </a:ext>
            </a:extLst>
          </p:cNvPr>
          <p:cNvSpPr>
            <a:spLocks xmlns:a="http://schemas.openxmlformats.org/drawingml/2006/main" noGrp="1"/>
          </p:cNvSpPr>
          <p:nvPr/>
        </p:nvSpPr>
        <p:spPr>
          <a:xfrm xmlns:a="http://schemas.openxmlformats.org/drawingml/2006/main">
            <a:off x="4762500" y="5143500"/>
            <a:ext cx="6705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D3C"/>
                </a:solidFill>
                <a:latin typeface="Arial"/>
                <a:ea typeface="Arial"/>
                <a:cs typeface="Arial"/>
              </a:defRPr>
            </a:pPr>
            <a:r>
              <a:rPr sz="2325" b="0">
                <a:solidFill>
                  <a:srgbClr val="132D3C"/>
                </a:solidFill>
                <a:latin typeface="Arial"/>
                <a:ea typeface="Arial"/>
                <a:cs typeface="Arial"/>
              </a:rPr>
              <a:t>Mọi slide đều có bản để xem lại bố cục.</a:t>
            </a:r>
          </a:p>
        </p:txBody>
      </p:sp>
    </p:spTree>
    <p:extLst>
      <p:ext uri="{BB962C8B-B14F-4D97-AF65-F5344CB8AC3E}">
        <p14:creationId xmlns:p14="http://schemas.microsoft.com/office/powerpoint/2010/main" val="8246241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2026-09-24T10:36:28.8920000Z</dcterms:created>
  <dcterms:modified xsi:type="dcterms:W3CDTF">2026-09-24T10:36:28.8920000Z</dcterms:modified>
</coreProperties>
</file>